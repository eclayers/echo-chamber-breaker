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01168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07647" y="201168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90527" y="201168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6656832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6473952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07647" y="6656832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90527" y="6473952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28800"/>
            <a:ext cx="9144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CHAMBER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BREAKER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D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anti-sycophant layer for Alexa+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4206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Self-hosted MCP Server  ·  Streamable HTTP  ·  Amazon Bedrock  ·  Alexa+ Track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6217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Amazon Developer Hackathon 2026  ·  Build, Ship, Shape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01168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07647" y="201168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90527" y="201168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6656832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6473952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07647" y="6656832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90527" y="6473952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ECHO_CHAMBER_BREAKER </a:t>
            </a:r>
            <a:pPr indent="0" marL="0">
              <a:buNone/>
            </a:pPr>
            <a:r>
              <a:rPr lang="en-US" sz="1000" spc="15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indent="0" marL="0">
              <a:buNone/>
            </a:pPr>
            <a:r>
              <a:rPr lang="en-US" sz="1000" spc="150" kern="0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THE_PROBLEM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094415" y="320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658368"/>
            <a:ext cx="11094415" cy="0"/>
          </a:xfrm>
          <a:prstGeom prst="line">
            <a:avLst/>
          </a:prstGeom>
          <a:noFill/>
          <a:ln w="12700">
            <a:solidFill>
              <a:srgbClr val="2A32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0058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AI makes you feel smarter.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none makes you harder to fool.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48640" y="2377440"/>
            <a:ext cx="3566160" cy="3017520"/>
          </a:xfrm>
          <a:prstGeom prst="roundRect">
            <a:avLst>
              <a:gd name="adj" fmla="val 2424"/>
            </a:avLst>
          </a:prstGeom>
          <a:solidFill>
            <a:srgbClr val="161C19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651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D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Sycophantic assistants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7240" y="320040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response to strong opinions is soft agreement. Comfort over calibration.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297680" y="2377440"/>
            <a:ext cx="3566160" cy="3017520"/>
          </a:xfrm>
          <a:prstGeom prst="roundRect">
            <a:avLst>
              <a:gd name="adj" fmla="val 2424"/>
            </a:avLst>
          </a:prstGeom>
          <a:solidFill>
            <a:srgbClr val="161C19"/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2651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D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blind spots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26280" y="320040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rarely receive the strongest opposing case. Weak counters are easy to dismiss.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46720" y="2377440"/>
            <a:ext cx="3566160" cy="3017520"/>
          </a:xfrm>
          <a:prstGeom prst="roundRect">
            <a:avLst>
              <a:gd name="adj" fmla="val 2424"/>
            </a:avLst>
          </a:prstGeom>
          <a:solidFill>
            <a:srgbClr val="161C19"/>
          </a:solidFill>
          <a:ln/>
        </p:spPr>
      </p:sp>
      <p:sp>
        <p:nvSpPr>
          <p:cNvPr id="21" name="Text 19"/>
          <p:cNvSpPr/>
          <p:nvPr/>
        </p:nvSpPr>
        <p:spPr>
          <a:xfrm>
            <a:off x="8275320" y="2651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D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honesty signal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75320" y="320040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no longitudinal measure of whether someone actually engaged with counter-arguments.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01168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07647" y="201168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90527" y="201168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6656832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6473952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07647" y="6656832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90527" y="6473952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ECHO_CHAMBER_BREAKER </a:t>
            </a:r>
            <a:pPr indent="0" marL="0">
              <a:buNone/>
            </a:pPr>
            <a:r>
              <a:rPr lang="en-US" sz="1000" spc="15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indent="0" marL="0">
              <a:buNone/>
            </a:pPr>
            <a:r>
              <a:rPr lang="en-US" sz="1000" spc="150" kern="0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THE_SOLUTION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094415" y="320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658368"/>
            <a:ext cx="11094415" cy="0"/>
          </a:xfrm>
          <a:prstGeom prst="line">
            <a:avLst/>
          </a:prstGeom>
          <a:noFill/>
          <a:ln w="12700">
            <a:solidFill>
              <a:srgbClr val="2A32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0058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Chamber Breaker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self-hosted MCP server that turns Alexa+ into an intellectual honesty coach.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21031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3040" y="2103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stance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54880" y="2103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Confidence, emotion, predicted blind spots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30632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3040" y="3063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Steelman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754880" y="3063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charitable opposing argument via Bedrock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40233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63040" y="4023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54880" y="4023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real engagement, not dismissal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8640" y="4983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63040" y="4983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754880" y="4983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Intellectual Honesty Score over time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01168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07647" y="201168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90527" y="201168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6656832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6473952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07647" y="6656832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90527" y="6473952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ECHO_CHAMBER_BREAKER </a:t>
            </a:r>
            <a:pPr indent="0" marL="0">
              <a:buNone/>
            </a:pPr>
            <a:r>
              <a:rPr lang="en-US" sz="1000" spc="15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indent="0" marL="0">
              <a:buNone/>
            </a:pPr>
            <a:r>
              <a:rPr lang="en-US" sz="1000" spc="150" kern="0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HOW_IT_WORKS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094415" y="320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658368"/>
            <a:ext cx="11094415" cy="0"/>
          </a:xfrm>
          <a:prstGeom prst="line">
            <a:avLst/>
          </a:prstGeom>
          <a:noFill/>
          <a:ln w="12700">
            <a:solidFill>
              <a:srgbClr val="2A322E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7D437AD-F977-4ED2-BDC6-9D412391B2E4}"/>
              </a:ext>
            </a:extLst>
          </p:cNvPr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real MCP tools, called by Alexa+ or the web simulator</a:t>
            </a:r>
            <a:endParaRPr lang="en-US" sz="18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5CB24F52-8806-4FE3-8AD5-5F14DEFA46F2}"/>
              </a:ext>
            </a:extLst>
          </p:cNvPr>
          <p:cNvSpPr/>
          <p:nvPr/>
        </p:nvSpPr>
        <p:spPr>
          <a:xfrm>
            <a:off x="552450" y="1647825"/>
            <a:ext cx="3571875" cy="1143000"/>
          </a:xfrm>
          <a:prstGeom prst="roundRect">
            <a:avLst>
              <a:gd name="adj" fmla="val 4800"/>
            </a:avLst>
          </a:prstGeom>
          <a:solidFill>
            <a:srgbClr val="161C19"/>
          </a:solidFill>
          <a:ln/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1000BD7-33D7-48EF-9A39-2BCD8C041C0F}"/>
              </a:ext>
            </a:extLst>
          </p:cNvPr>
          <p:cNvSpPr/>
          <p:nvPr/>
        </p:nvSpPr>
        <p:spPr>
          <a:xfrm>
            <a:off x="781050" y="1876425"/>
            <a:ext cx="311467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analyze_stance</a:t>
            </a:r>
            <a:endParaRPr lang="en-US" sz="14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A47BE69-B182-4A29-BD9C-B717A1456BC8}"/>
              </a:ext>
            </a:extLst>
          </p:cNvPr>
          <p:cNvSpPr/>
          <p:nvPr/>
        </p:nvSpPr>
        <p:spPr>
          <a:xfrm>
            <a:off x="781050" y="2286000"/>
            <a:ext cx="311467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stance, emotions, blind spots</a:t>
            </a:r>
            <a:endParaRPr lang="en-US" sz="14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DE474D34-A023-4578-93C8-49F3E7859095}"/>
              </a:ext>
            </a:extLst>
          </p:cNvPr>
          <p:cNvSpPr/>
          <p:nvPr/>
        </p:nvSpPr>
        <p:spPr>
          <a:xfrm>
            <a:off x="4305300" y="1647825"/>
            <a:ext cx="3571875" cy="1143000"/>
          </a:xfrm>
          <a:prstGeom prst="roundRect">
            <a:avLst>
              <a:gd name="adj" fmla="val 4800"/>
            </a:avLst>
          </a:prstGeom>
          <a:solidFill>
            <a:srgbClr val="161C19"/>
          </a:solidFill>
          <a:ln/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B2156D5-4BFC-4925-B072-FADB5A2C021D}"/>
              </a:ext>
            </a:extLst>
          </p:cNvPr>
          <p:cNvSpPr/>
          <p:nvPr/>
        </p:nvSpPr>
        <p:spPr>
          <a:xfrm>
            <a:off x="4533900" y="1876425"/>
            <a:ext cx="311467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steelman</a:t>
            </a:r>
            <a:endParaRPr lang="en-US" sz="14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AFB3F94-DAA8-401F-B0E1-749F18E4914B}"/>
              </a:ext>
            </a:extLst>
          </p:cNvPr>
          <p:cNvSpPr/>
          <p:nvPr/>
        </p:nvSpPr>
        <p:spPr>
          <a:xfrm>
            <a:off x="4533900" y="2286000"/>
            <a:ext cx="311467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charitable counter-case</a:t>
            </a:r>
            <a:endParaRPr lang="en-US" sz="14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B088C75D-15D9-4721-8F56-694114C2D0E7}"/>
              </a:ext>
            </a:extLst>
          </p:cNvPr>
          <p:cNvSpPr/>
          <p:nvPr/>
        </p:nvSpPr>
        <p:spPr>
          <a:xfrm>
            <a:off x="8058150" y="1647825"/>
            <a:ext cx="3571875" cy="1143000"/>
          </a:xfrm>
          <a:prstGeom prst="roundRect">
            <a:avLst>
              <a:gd name="adj" fmla="val 4800"/>
            </a:avLst>
          </a:prstGeom>
          <a:solidFill>
            <a:srgbClr val="161C19"/>
          </a:solidFill>
          <a:ln/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E078B40-709F-4E0C-A60F-C707E0E071F8}"/>
              </a:ext>
            </a:extLst>
          </p:cNvPr>
          <p:cNvSpPr/>
          <p:nvPr/>
        </p:nvSpPr>
        <p:spPr>
          <a:xfrm>
            <a:off x="8286750" y="1876425"/>
            <a:ext cx="311467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record_engagement</a:t>
            </a:r>
            <a:endParaRPr lang="en-US" sz="14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ACB3E0A3-058C-4CAD-BC91-8BAECAE05F94}"/>
              </a:ext>
            </a:extLst>
          </p:cNvPr>
          <p:cNvSpPr/>
          <p:nvPr/>
        </p:nvSpPr>
        <p:spPr>
          <a:xfrm>
            <a:off x="8286750" y="2286000"/>
            <a:ext cx="311467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user actually grapple?</a:t>
            </a:r>
            <a:endParaRPr lang="en-US" sz="14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C22357D5-8CCE-48D1-B698-C46EE910270A}"/>
              </a:ext>
            </a:extLst>
          </p:cNvPr>
          <p:cNvSpPr/>
          <p:nvPr/>
        </p:nvSpPr>
        <p:spPr>
          <a:xfrm>
            <a:off x="552450" y="2971800"/>
            <a:ext cx="3571875" cy="1143000"/>
          </a:xfrm>
          <a:prstGeom prst="roundRect">
            <a:avLst>
              <a:gd name="adj" fmla="val 4800"/>
            </a:avLst>
          </a:prstGeom>
          <a:solidFill>
            <a:srgbClr val="161C19"/>
          </a:solidFill>
          <a:ln/>
        </p:spPr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6A9A126E-1079-4192-8501-284020D79DF7}"/>
              </a:ext>
            </a:extLst>
          </p:cNvPr>
          <p:cNvSpPr/>
          <p:nvPr/>
        </p:nvSpPr>
        <p:spPr>
          <a:xfrm>
            <a:off x="781050" y="3199800"/>
            <a:ext cx="311467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start_debate</a:t>
            </a:r>
            <a:endParaRPr lang="en-US" sz="14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45F843C1-1B19-4103-89E5-E0F5FF468EA5}"/>
              </a:ext>
            </a:extLst>
          </p:cNvPr>
          <p:cNvSpPr/>
          <p:nvPr/>
        </p:nvSpPr>
        <p:spPr>
          <a:xfrm>
            <a:off x="781050" y="3609975"/>
            <a:ext cx="311467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bounded, timed exchange</a:t>
            </a:r>
            <a:endParaRPr lang="en-US" sz="14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8160FD48-FDF1-4119-AC29-9A57D8C0496F}"/>
              </a:ext>
            </a:extLst>
          </p:cNvPr>
          <p:cNvSpPr/>
          <p:nvPr/>
        </p:nvSpPr>
        <p:spPr>
          <a:xfrm>
            <a:off x="4305300" y="2971800"/>
            <a:ext cx="3571875" cy="1143000"/>
          </a:xfrm>
          <a:prstGeom prst="roundRect">
            <a:avLst>
              <a:gd name="adj" fmla="val 4800"/>
            </a:avLst>
          </a:prstGeom>
          <a:solidFill>
            <a:srgbClr val="161C19"/>
          </a:solidFill>
          <a:ln/>
        </p:spPr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02E5F1FC-A9FA-40B2-A934-706E2F3143E3}"/>
              </a:ext>
            </a:extLst>
          </p:cNvPr>
          <p:cNvSpPr/>
          <p:nvPr/>
        </p:nvSpPr>
        <p:spPr>
          <a:xfrm>
            <a:off x="4533900" y="3199800"/>
            <a:ext cx="311467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continue_debate</a:t>
            </a:r>
            <a:endParaRPr lang="en-US" sz="14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50CDF49F-6A00-4585-8DF4-5DE9EBF998E7}"/>
              </a:ext>
            </a:extLst>
          </p:cNvPr>
          <p:cNvSpPr/>
          <p:nvPr/>
        </p:nvSpPr>
        <p:spPr>
          <a:xfrm>
            <a:off x="4533900" y="3609975"/>
            <a:ext cx="311467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move, graded on effort</a:t>
            </a:r>
            <a:endParaRPr lang="en-US" sz="14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FC14DCEE-1642-4CA1-9C6A-8080CBC0B8CF}"/>
              </a:ext>
            </a:extLst>
          </p:cNvPr>
          <p:cNvSpPr/>
          <p:nvPr/>
        </p:nvSpPr>
        <p:spPr>
          <a:xfrm>
            <a:off x="8058150" y="2971800"/>
            <a:ext cx="3571875" cy="1143000"/>
          </a:xfrm>
          <a:prstGeom prst="roundRect">
            <a:avLst>
              <a:gd name="adj" fmla="val 4800"/>
            </a:avLst>
          </a:prstGeom>
          <a:solidFill>
            <a:srgbClr val="161C19"/>
          </a:solidFill>
          <a:ln/>
        </p:spPr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D3632BD9-9672-4C2A-BA47-4A3EA06D2C5A}"/>
              </a:ext>
            </a:extLst>
          </p:cNvPr>
          <p:cNvSpPr/>
          <p:nvPr/>
        </p:nvSpPr>
        <p:spPr>
          <a:xfrm>
            <a:off x="8286750" y="3199800"/>
            <a:ext cx="311467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end_debate</a:t>
            </a:r>
            <a:endParaRPr lang="en-US" sz="14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E4878826-A783-4547-953A-652E2CEC311D}"/>
              </a:ext>
            </a:extLst>
          </p:cNvPr>
          <p:cNvSpPr/>
          <p:nvPr/>
        </p:nvSpPr>
        <p:spPr>
          <a:xfrm>
            <a:off x="8286750" y="3609975"/>
            <a:ext cx="311467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the completion, close</a:t>
            </a:r>
            <a:endParaRPr lang="en-US" sz="1400" dirty="0"/>
          </a:p>
        </p:txBody>
      </p:sp>
      <p:sp>
        <p:nvSpPr>
          <p:cNvPr id="32" name="Shape 32">
            <a:extLst>
              <a:ext uri="{FF2B5EF4-FFF2-40B4-BE49-F238E27FC236}">
                <a16:creationId xmlns:a16="http://schemas.microsoft.com/office/drawing/2014/main" id="{DFC4E9D7-647C-45F9-8B21-2E499F78EDC9}"/>
              </a:ext>
            </a:extLst>
          </p:cNvPr>
          <p:cNvSpPr/>
          <p:nvPr/>
        </p:nvSpPr>
        <p:spPr>
          <a:xfrm>
            <a:off x="552450" y="4295775"/>
            <a:ext cx="3571875" cy="1143000"/>
          </a:xfrm>
          <a:prstGeom prst="rect">
            <a:avLst/>
          </a:prstGeom>
          <a:solidFill>
            <a:srgbClr val="161C1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AAF0FB7B-F4EF-4F5E-AE34-C671891FF509}"/>
              </a:ext>
            </a:extLst>
          </p:cNvPr>
          <p:cNvSpPr txBox="1"/>
          <p:nvPr/>
        </p:nvSpPr>
        <p:spPr>
          <a:xfrm>
            <a:off x="781050" y="4524375"/>
            <a:ext cx="3114675" cy="323850"/>
          </a:xfrm>
        </p:spPr>
        <p:txBody>
          <a:bodyPr wrap="square" rtlCol="0"/>
          <a:lstStyle/>
          <a:p>
            <a:pPr algn="l"/>
            <a:r>
              <a:rPr sz="1400">
                <a:solidFill>
                  <a:srgbClr val="A8D95E"/>
                </a:solidFill>
                <a:latin typeface="Consolas"/>
                <a:ea typeface="Consolas"/>
                <a:cs typeface="Consolas"/>
              </a:rPr>
              <a:t>honesty_report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9E9808F7-0E96-461B-BDDD-E8D57B16E3AE}"/>
              </a:ext>
            </a:extLst>
          </p:cNvPr>
          <p:cNvSpPr txBox="1"/>
          <p:nvPr/>
        </p:nvSpPr>
        <p:spPr>
          <a:xfrm>
            <a:off x="781050" y="4933950"/>
            <a:ext cx="3114675" cy="323850"/>
          </a:xfrm>
        </p:spPr>
        <p:txBody>
          <a:bodyPr wrap="square" rtlCol="0"/>
          <a:lstStyle/>
          <a:p>
            <a:pPr algn="l"/>
            <a:r>
              <a:rPr sz="1400">
                <a:solidFill>
                  <a:srgbClr val="8A8F86"/>
                </a:solidFill>
                <a:latin typeface="Calibri"/>
                <a:ea typeface="Calibri"/>
                <a:cs typeface="Calibri"/>
              </a:rPr>
              <a:t>Score, movement, the events</a:t>
            </a:r>
          </a:p>
        </p:txBody>
      </p:sp>
      <p:sp>
        <p:nvSpPr>
          <p:cNvPr id="35" name="Shape 35">
            <a:extLst>
              <a:ext uri="{FF2B5EF4-FFF2-40B4-BE49-F238E27FC236}">
                <a16:creationId xmlns:a16="http://schemas.microsoft.com/office/drawing/2014/main" id="{F70801BB-871D-41CD-9F08-78BD7B6E55FE}"/>
              </a:ext>
            </a:extLst>
          </p:cNvPr>
          <p:cNvSpPr/>
          <p:nvPr/>
        </p:nvSpPr>
        <p:spPr>
          <a:xfrm>
            <a:off x="4305300" y="4295775"/>
            <a:ext cx="3571875" cy="1143000"/>
          </a:xfrm>
          <a:prstGeom prst="rect">
            <a:avLst/>
          </a:prstGeom>
          <a:solidFill>
            <a:srgbClr val="161C1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B8AC771D-FADA-469E-9C70-BF81A7510354}"/>
              </a:ext>
            </a:extLst>
          </p:cNvPr>
          <p:cNvSpPr txBox="1"/>
          <p:nvPr/>
        </p:nvSpPr>
        <p:spPr>
          <a:xfrm>
            <a:off x="4533900" y="4524375"/>
            <a:ext cx="3114675" cy="323850"/>
          </a:xfrm>
        </p:spPr>
        <p:txBody>
          <a:bodyPr wrap="square" rtlCol="0"/>
          <a:lstStyle/>
          <a:p>
            <a:pPr algn="l"/>
            <a:r>
              <a:rPr sz="1400">
                <a:solidFill>
                  <a:srgbClr val="A8D95E"/>
                </a:solidFill>
                <a:latin typeface="Consolas"/>
                <a:ea typeface="Consolas"/>
                <a:cs typeface="Consolas"/>
              </a:rPr>
              <a:t>get_honesty_history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B52D49C-E553-4710-BB40-5C7D0B6AE920}"/>
              </a:ext>
            </a:extLst>
          </p:cNvPr>
          <p:cNvSpPr txBox="1"/>
          <p:nvPr/>
        </p:nvSpPr>
        <p:spPr>
          <a:xfrm>
            <a:off x="4533900" y="4933950"/>
            <a:ext cx="3114675" cy="323850"/>
          </a:xfrm>
        </p:spPr>
        <p:txBody>
          <a:bodyPr wrap="square" rtlCol="0"/>
          <a:lstStyle/>
          <a:p>
            <a:pPr algn="l"/>
            <a:r>
              <a:rPr sz="1400">
                <a:solidFill>
                  <a:srgbClr val="8A8F86"/>
                </a:solidFill>
                <a:latin typeface="Calibri"/>
                <a:ea typeface="Calibri"/>
                <a:cs typeface="Calibri"/>
              </a:rPr>
              <a:t>Raw ledger, newest first</a:t>
            </a:r>
          </a:p>
        </p:txBody>
      </p:sp>
      <p:sp>
        <p:nvSpPr>
          <p:cNvPr id="38" name="Shape 38">
            <a:extLst>
              <a:ext uri="{FF2B5EF4-FFF2-40B4-BE49-F238E27FC236}">
                <a16:creationId xmlns:a16="http://schemas.microsoft.com/office/drawing/2014/main" id="{6568D9A7-34EA-4F1C-AE67-C11F920D8F16}"/>
              </a:ext>
            </a:extLst>
          </p:cNvPr>
          <p:cNvSpPr/>
          <p:nvPr/>
        </p:nvSpPr>
        <p:spPr>
          <a:xfrm>
            <a:off x="8058150" y="4295775"/>
            <a:ext cx="3571875" cy="1143000"/>
          </a:xfrm>
          <a:prstGeom prst="rect">
            <a:avLst/>
          </a:prstGeom>
          <a:solidFill>
            <a:srgbClr val="161C1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77280B84-01F4-4977-9ECB-601C66F55EC9}"/>
              </a:ext>
            </a:extLst>
          </p:cNvPr>
          <p:cNvSpPr txBox="1"/>
          <p:nvPr/>
        </p:nvSpPr>
        <p:spPr>
          <a:xfrm>
            <a:off x="8286750" y="4524375"/>
            <a:ext cx="3114675" cy="323850"/>
          </a:xfrm>
        </p:spPr>
        <p:txBody>
          <a:bodyPr wrap="square" rtlCol="0"/>
          <a:lstStyle/>
          <a:p>
            <a:pPr algn="l"/>
            <a:r>
              <a:rPr sz="1400">
                <a:solidFill>
                  <a:srgbClr val="A8D95E"/>
                </a:solidFill>
                <a:latin typeface="Consolas"/>
                <a:ea typeface="Consolas"/>
                <a:cs typeface="Consolas"/>
              </a:rPr>
              <a:t>challenge_me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412B8A7D-36A5-424E-9CE3-29A1321DC19C}"/>
              </a:ext>
            </a:extLst>
          </p:cNvPr>
          <p:cNvSpPr txBox="1"/>
          <p:nvPr/>
        </p:nvSpPr>
        <p:spPr>
          <a:xfrm>
            <a:off x="8286750" y="4933950"/>
            <a:ext cx="3114675" cy="323850"/>
          </a:xfrm>
        </p:spPr>
        <p:txBody>
          <a:bodyPr wrap="square" rtlCol="0"/>
          <a:lstStyle/>
          <a:p>
            <a:pPr algn="l"/>
            <a:r>
              <a:rPr sz="1400">
                <a:solidFill>
                  <a:srgbClr val="8A8F86"/>
                </a:solidFill>
                <a:latin typeface="Calibri"/>
                <a:ea typeface="Calibri"/>
                <a:cs typeface="Calibri"/>
              </a:rPr>
              <a:t>What you left standing, again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01168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07647" y="201168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90527" y="201168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6656832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6473952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07647" y="6656832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90527" y="6473952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ECHO_CHAMBER_BREAKER </a:t>
            </a:r>
            <a:pPr indent="0" marL="0">
              <a:buNone/>
            </a:pPr>
            <a:r>
              <a:rPr lang="en-US" sz="1000" spc="15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indent="0" marL="0">
              <a:buNone/>
            </a:pPr>
            <a:r>
              <a:rPr lang="en-US" sz="1000" spc="150" kern="0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094415" y="320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658368"/>
            <a:ext cx="11094415" cy="0"/>
          </a:xfrm>
          <a:prstGeom prst="line">
            <a:avLst/>
          </a:prstGeom>
          <a:noFill/>
          <a:ln w="12700">
            <a:solidFill>
              <a:srgbClr val="2A32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correct, agent-buildable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1554480"/>
            <a:ext cx="11064240" cy="777240"/>
          </a:xfrm>
          <a:prstGeom prst="roundRect">
            <a:avLst>
              <a:gd name="adj" fmla="val 5882"/>
            </a:avLst>
          </a:prstGeom>
          <a:solidFill>
            <a:srgbClr val="161C19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17556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D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91840" y="175564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Alexa+  ·  Web Simulator (real MCP client)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2423160"/>
            <a:ext cx="11064240" cy="777240"/>
          </a:xfrm>
          <a:prstGeom prst="roundRect">
            <a:avLst>
              <a:gd name="adj" fmla="val 5882"/>
            </a:avLst>
          </a:prstGeom>
          <a:solidFill>
            <a:srgbClr val="161C19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26243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D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291840" y="262432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Streamable HTTP  ·  MCP Spec 2025-11-25+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3291840"/>
            <a:ext cx="11064240" cy="777240"/>
          </a:xfrm>
          <a:prstGeom prst="roundRect">
            <a:avLst>
              <a:gd name="adj" fmla="val 5882"/>
            </a:avLst>
          </a:prstGeom>
          <a:solidFill>
            <a:srgbClr val="161C19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4930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D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291840" y="349300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 ·  Official MCP SDK  ·  Tool handlers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11064240" cy="777240"/>
          </a:xfrm>
          <a:prstGeom prst="roundRect">
            <a:avLst>
              <a:gd name="adj" fmla="val 5882"/>
            </a:avLst>
          </a:prstGeom>
          <a:solidFill>
            <a:srgbClr val="161C19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3616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D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291840" y="436168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 (Claude / Nova)  ·  Prompt lab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48640" y="5029200"/>
            <a:ext cx="11064240" cy="777240"/>
          </a:xfrm>
          <a:prstGeom prst="roundRect">
            <a:avLst>
              <a:gd name="adj" fmla="val 5882"/>
            </a:avLst>
          </a:prstGeom>
          <a:solidFill>
            <a:srgbClr val="161C19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52303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D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291840" y="52303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or local store  ·  Honesty ledger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01168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07647" y="201168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90527" y="201168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6656832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6473952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07647" y="6656832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90527" y="6473952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ECHO_CHAMBER_BREAKER </a:t>
            </a:r>
            <a:pPr indent="0" marL="0">
              <a:buNone/>
            </a:pPr>
            <a:r>
              <a:rPr lang="en-US" sz="1000" spc="15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indent="0" marL="0">
              <a:buNone/>
            </a:pPr>
            <a:r>
              <a:rPr lang="en-US" sz="1000" spc="150" kern="0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WHY_THIS_WINS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094415" y="320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658368"/>
            <a:ext cx="11094415" cy="0"/>
          </a:xfrm>
          <a:prstGeom prst="line">
            <a:avLst/>
          </a:prstGeom>
          <a:noFill/>
          <a:ln w="12700">
            <a:solidFill>
              <a:srgbClr val="2A32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non-obvious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8640" y="16459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1645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Unpopular thesis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03520" y="16459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submissions are memory, kitchen, or task tools. This one challenges the user.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27432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Bedrock depth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03520" y="27432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Steelmanning quality is the product. Not a thin wrapper around an API.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3840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3840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signal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03520" y="38404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Intellectual Honesty Score creates a longitudinal story judges remember.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49377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71600" y="4937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 MCP demo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03520" y="49377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 speaks the real protocol. Trace panel proves it.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01168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07647" y="201168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90527" y="201168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6656832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6473952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07647" y="6656832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90527" y="6473952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ECHO_CHAMBER_BREAKER </a:t>
            </a:r>
            <a:pPr indent="0" marL="0">
              <a:buNone/>
            </a:pPr>
            <a:r>
              <a:rPr lang="en-US" sz="1000" spc="15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indent="0" marL="0">
              <a:buNone/>
            </a:pPr>
            <a:r>
              <a:rPr lang="en-US" sz="1000" spc="150" kern="0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DEMO_FLOW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094415" y="320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658368"/>
            <a:ext cx="11094415" cy="0"/>
          </a:xfrm>
          <a:prstGeom prst="line">
            <a:avLst/>
          </a:prstGeom>
          <a:noFill/>
          <a:ln w="12700">
            <a:solidFill>
              <a:srgbClr val="2A32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minute narrative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1600200"/>
            <a:ext cx="320040" cy="320040"/>
          </a:xfrm>
          <a:prstGeom prst="ellipse">
            <a:avLst/>
          </a:prstGeom>
          <a:solidFill>
            <a:srgbClr val="A8D95E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162763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1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7280" y="15544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simulator → show live MCP connection + tools/list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2331720"/>
            <a:ext cx="320040" cy="320040"/>
          </a:xfrm>
          <a:prstGeom prst="ellipse">
            <a:avLst/>
          </a:prstGeom>
          <a:solidFill>
            <a:srgbClr val="A8D95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3591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1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97280" y="22860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“Remote work is destroying company culture.”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3063240"/>
            <a:ext cx="320040" cy="320040"/>
          </a:xfrm>
          <a:prstGeom prst="ellipse">
            <a:avLst/>
          </a:prstGeom>
          <a:solidFill>
            <a:srgbClr val="A8D95E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0906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1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" y="30175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analyze_stance → steelman appears (high quality opposing case)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3794760"/>
            <a:ext cx="320040" cy="320040"/>
          </a:xfrm>
          <a:prstGeom prst="ellipse">
            <a:avLst/>
          </a:prstGeom>
          <a:solidFill>
            <a:srgbClr val="A8D95E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82219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1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97280" y="37490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engages → record_engagement → score moves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48640" y="4526280"/>
            <a:ext cx="320040" cy="320040"/>
          </a:xfrm>
          <a:prstGeom prst="ellipse">
            <a:avLst/>
          </a:prstGeom>
          <a:solidFill>
            <a:srgbClr val="A8D95E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55371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1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B48C671A-4E98-4025-BBC8-B0E5F46D8B5E}"/>
              </a:ext>
            </a:extLst>
          </p:cNvPr>
          <p:cNvSpPr/>
          <p:nvPr/>
        </p:nvSpPr>
        <p:spPr>
          <a:xfrm>
            <a:off x="1097280" y="4480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start_debate → continue_debate → end_debate (turn budget enforced)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48640" y="5257800"/>
            <a:ext cx="320040" cy="320040"/>
          </a:xfrm>
          <a:prstGeom prst="ellipse">
            <a:avLst/>
          </a:prstGeom>
          <a:solidFill>
            <a:srgbClr val="A8D95E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528523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1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D7C21135-47DF-416D-B342-536B2B51CF81}"/>
              </a:ext>
            </a:extLst>
          </p:cNvPr>
          <p:cNvSpPr/>
          <p:nvPr/>
        </p:nvSpPr>
        <p:spPr>
          <a:xfrm>
            <a:off x="1097280" y="52120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honesty_report + get_honesty_history + challenge_me → close on the repo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01168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07647" y="201168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90527" y="201168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6656832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6473952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07647" y="6656832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90527" y="6473952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ECHO_CHAMBER_BREAKER </a:t>
            </a:r>
            <a:pPr indent="0" marL="0">
              <a:buNone/>
            </a:pPr>
            <a:r>
              <a:rPr lang="en-US" sz="1000" spc="15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indent="0" marL="0">
              <a:buNone/>
            </a:pPr>
            <a:r>
              <a:rPr lang="en-US" sz="1000" spc="150" kern="0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094415" y="320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658368"/>
            <a:ext cx="11094415" cy="0"/>
          </a:xfrm>
          <a:prstGeom prst="line">
            <a:avLst/>
          </a:prstGeom>
          <a:noFill/>
          <a:ln w="12700">
            <a:solidFill>
              <a:srgbClr val="2A32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128016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161C19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16002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Protocol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210312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Streamable HTTP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2025-11-25+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43400" y="128016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161C19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16002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210312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20+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138160" y="128016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161C19"/>
          </a:solidFill>
          <a:ln/>
        </p:spPr>
      </p:sp>
      <p:sp>
        <p:nvSpPr>
          <p:cNvPr id="20" name="Text 18"/>
          <p:cNvSpPr/>
          <p:nvPr/>
        </p:nvSpPr>
        <p:spPr>
          <a:xfrm>
            <a:off x="8366760" y="16002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66760" y="210312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@modelcontextprotocol/sdk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365760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161C19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39776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44805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Nova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43400" y="365760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161C19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39776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0" y="44805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 local fallback)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138160" y="365760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161C19"/>
          </a:solidFill>
          <a:ln/>
        </p:spPr>
      </p:sp>
      <p:sp>
        <p:nvSpPr>
          <p:cNvPr id="29" name="Text 27"/>
          <p:cNvSpPr/>
          <p:nvPr/>
        </p:nvSpPr>
        <p:spPr>
          <a:xfrm>
            <a:off x="8366760" y="39776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366760" y="44805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Antigravity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(agent-first)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01168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07647" y="201168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90527" y="201168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6656832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6473952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07647" y="6656832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90527" y="6473952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ECHO_CHAMBER_BREAKER </a:t>
            </a:r>
            <a:pPr indent="0" marL="0">
              <a:buNone/>
            </a:pPr>
            <a:r>
              <a:rPr lang="en-US" sz="1000" spc="15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indent="0" marL="0">
              <a:buNone/>
            </a:pPr>
            <a:r>
              <a:rPr lang="en-US" sz="1000" spc="150" kern="0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094415" y="320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658368"/>
            <a:ext cx="11094415" cy="0"/>
          </a:xfrm>
          <a:prstGeom prst="line">
            <a:avLst/>
          </a:prstGeom>
          <a:noFill/>
          <a:ln w="12700">
            <a:solidFill>
              <a:srgbClr val="2A32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Alexa+ track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864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D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2011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 Self-hosted MCP server (Streamable HTTP)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D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2834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Mini-challenge ready: AWS Builder (Bedrock) + Open Source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D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5840" y="3657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path: Web simulator as real MCP client (no partner preview required)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D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05840" y="4480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style: Antigravity-first, phase-driven, artifact-reviewed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01168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07647" y="201168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90527" y="201168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6656832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6473952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07647" y="6656832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90527" y="6473952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01168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 the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comfortable opinion.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48640" y="3840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D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Chamber Breaker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4389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Alexa+  ·  MCP  ·  Bedrock  ·  Intellectual Honesty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Amazon Developer Hackathon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Echo Chamber Breaker</dc:title>
  <dc:subject>PptxGenJS Presentation</dc:subject>
  <dc:creator>Echo Chamber Breaker Team</dc:creator>
  <cp:lastModifiedBy>Echo Chamber Breaker Team</cp:lastModifiedBy>
  <cp:revision>1</cp:revision>
  <dcterms:created xsi:type="dcterms:W3CDTF">2026-10-21T13:07:08Z</dcterms:created>
  <dcterms:modified xsi:type="dcterms:W3CDTF">2026-10-21T13:07:08Z</dcterms:modified>
</cp:coreProperties>
</file>